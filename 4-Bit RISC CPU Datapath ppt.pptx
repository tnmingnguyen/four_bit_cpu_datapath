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7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0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69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type="body" idx="101"/>
          </p:nvPr>
        </p:nvSpPr>
        <p:spPr>
          <a:xfrm>
            <a:off x="812800" y="1564569"/>
            <a:ext cx="10566400" cy="44806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69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type="body" idx="101"/>
          </p:nvPr>
        </p:nvSpPr>
        <p:spPr>
          <a:xfrm>
            <a:off x="812800" y="1564569"/>
            <a:ext cx="10566400" cy="44806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4-bit CPU chip illustration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397240" y="1370330"/>
            <a:ext cx="3048000" cy="304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06027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VERILOG HDL · 4-BIT RISC · 3-STAGE PIPELINE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370471"/>
            <a:ext cx="6932930" cy="17854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400" b="1" i="0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Design and Implementation of a 4-Bit RISC CPU Datapath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12800" y="3642360"/>
            <a:ext cx="3415665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dirty="0">
                <a:solidFill>
                  <a:srgbClr val="8FA1B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Name: </a:t>
            </a:r>
            <a:r>
              <a:rPr lang="en-US" b="1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Than Nguyen Minh Nguyen</a:t>
            </a:r>
            <a:endParaRPr lang="en-US" b="1" dirty="0">
              <a:solidFill>
                <a:srgbClr val="E8EEF8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2800" y="4305935"/>
            <a:ext cx="2183765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dirty="0">
                <a:solidFill>
                  <a:srgbClr val="8FA1B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Roll no: </a:t>
            </a:r>
            <a:r>
              <a:rPr lang="en-US" b="1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SE204340</a:t>
            </a:r>
            <a:endParaRPr lang="en-US" b="1" dirty="0">
              <a:solidFill>
                <a:srgbClr val="E8EEF8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Project Aim and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37570"/>
            <a:ext cx="10566400" cy="954969"/>
          </a:xfrm>
          <a:prstGeom prst="roundRect">
            <a:avLst>
              <a:gd name="adj" fmla="val 15959"/>
            </a:avLst>
          </a:prstGeom>
          <a:solidFill>
            <a:srgbClr val="3DD6F5"/>
          </a:solidFill>
        </p:spPr>
      </p:sp>
      <p:sp>
        <p:nvSpPr>
          <p:cNvPr id="4" name="Text 2"/>
          <p:cNvSpPr/>
          <p:nvPr/>
        </p:nvSpPr>
        <p:spPr>
          <a:xfrm>
            <a:off x="1016000" y="1640770"/>
            <a:ext cx="10464800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B122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PROJECT AIM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6000" y="1915054"/>
            <a:ext cx="10464800" cy="299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122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To design, implement, and verify a functional 4-bit RISC CPU using Verilog HDL.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2570339"/>
            <a:ext cx="10883392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B54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946224"/>
            <a:ext cx="2527300" cy="1518708"/>
          </a:xfrm>
          <a:prstGeom prst="roundRect">
            <a:avLst>
              <a:gd name="adj" fmla="val 8362"/>
            </a:avLst>
          </a:prstGeom>
          <a:solidFill>
            <a:srgbClr val="17243D"/>
          </a:solidFill>
        </p:spPr>
      </p:sp>
      <p:sp>
        <p:nvSpPr>
          <p:cNvPr id="8" name="Text 6"/>
          <p:cNvSpPr/>
          <p:nvPr/>
        </p:nvSpPr>
        <p:spPr>
          <a:xfrm>
            <a:off x="1016000" y="3149424"/>
            <a:ext cx="2184527" cy="299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Datapath Design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3525308"/>
            <a:ext cx="2184527" cy="4875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ALU, register file, and memory units.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92500" y="2946224"/>
            <a:ext cx="2527300" cy="1518708"/>
          </a:xfrm>
          <a:prstGeom prst="roundRect">
            <a:avLst>
              <a:gd name="adj" fmla="val 8362"/>
            </a:avLst>
          </a:prstGeom>
          <a:solidFill>
            <a:srgbClr val="17243D"/>
          </a:solidFill>
        </p:spPr>
      </p:sp>
      <p:sp>
        <p:nvSpPr>
          <p:cNvPr id="11" name="Text 9"/>
          <p:cNvSpPr/>
          <p:nvPr/>
        </p:nvSpPr>
        <p:spPr>
          <a:xfrm>
            <a:off x="3695700" y="3149424"/>
            <a:ext cx="2184527" cy="299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Control Design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95700" y="3525308"/>
            <a:ext cx="2184527" cy="4875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Instruction decoder and hardwired control.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2946224"/>
            <a:ext cx="2527300" cy="1518708"/>
          </a:xfrm>
          <a:prstGeom prst="roundRect">
            <a:avLst>
              <a:gd name="adj" fmla="val 8362"/>
            </a:avLst>
          </a:prstGeom>
          <a:solidFill>
            <a:srgbClr val="17243D"/>
          </a:solidFill>
        </p:spPr>
      </p:sp>
      <p:sp>
        <p:nvSpPr>
          <p:cNvPr id="14" name="Text 12"/>
          <p:cNvSpPr/>
          <p:nvPr/>
        </p:nvSpPr>
        <p:spPr>
          <a:xfrm>
            <a:off x="6375400" y="3149424"/>
            <a:ext cx="2324100" cy="299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Pipeline Architecture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75400" y="3525308"/>
            <a:ext cx="2184527" cy="4875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Three stages — IF, ID, and EX.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51900" y="2946224"/>
            <a:ext cx="2527300" cy="1518708"/>
          </a:xfrm>
          <a:prstGeom prst="roundRect">
            <a:avLst>
              <a:gd name="adj" fmla="val 8362"/>
            </a:avLst>
          </a:prstGeom>
          <a:solidFill>
            <a:srgbClr val="17243D"/>
          </a:solidFill>
        </p:spPr>
      </p:sp>
      <p:sp>
        <p:nvSpPr>
          <p:cNvPr id="17" name="Text 15"/>
          <p:cNvSpPr/>
          <p:nvPr/>
        </p:nvSpPr>
        <p:spPr>
          <a:xfrm>
            <a:off x="9055100" y="3149424"/>
            <a:ext cx="2184527" cy="5739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Functional Verification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55100" y="3799593"/>
            <a:ext cx="2184527" cy="4875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Simulation and testbench-based testing.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4642732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B54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Expected Outcome:</a:t>
            </a:r>
            <a:r>
              <a:rPr lang="en-US" sz="1400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A working CPU capable of executing arithmetic, logic, memory, and jump instructions.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5808" y="6238258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1B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4-Bit RISC CPU Datapath · 02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363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65"/>
              </a:lnSpc>
              <a:buNone/>
            </a:pPr>
            <a:r>
              <a:rPr lang="en-US" sz="2970" b="1" i="0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System Specifications</a:t>
            </a:r>
            <a:endParaRPr lang="en-US" sz="297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/>
        </p:nvGraphicFramePr>
        <p:xfrm>
          <a:off x="824089" y="1489075"/>
          <a:ext cx="6211712" cy="4735160"/>
        </p:xfrm>
        <a:graphic>
          <a:graphicData uri="http://schemas.openxmlformats.org/drawingml/2006/table">
            <a:tbl>
              <a:tblPr/>
              <a:tblGrid>
                <a:gridCol w="3105856"/>
                <a:gridCol w="3105856"/>
              </a:tblGrid>
              <a:tr h="473516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Parameter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Specification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E"/>
                    </a:solidFill>
                  </a:tcPr>
                </a:tc>
              </a:tr>
              <a:tr h="473516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CPU architecture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4-bit RISC-style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516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Instruction width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12 bits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516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General-purpose registers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4 registers: R0–R3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516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Instruction memory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16 × 12 bits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516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Data memory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16 × 4 bits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516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Program counter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4 bits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516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Pipeline stages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IF, ID, EX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516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Control mechanism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Hardwired control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516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Implementation language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Verilog HDL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95808" y="6238258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1B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4-Bit RISC CPU Datapath · 03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Instruction Set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12170"/>
            <a:ext cx="10883392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B54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INSTRUCTION FORMAT · 12 BITS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12800" y="1762654"/>
            <a:ext cx="3285067" cy="1533966"/>
          </a:xfrm>
          <a:prstGeom prst="roundRect">
            <a:avLst>
              <a:gd name="adj" fmla="val 8279"/>
            </a:avLst>
          </a:prstGeom>
          <a:solidFill>
            <a:srgbClr val="17243D"/>
          </a:solidFill>
        </p:spPr>
      </p:sp>
      <p:sp>
        <p:nvSpPr>
          <p:cNvPr id="5" name="Text 3"/>
          <p:cNvSpPr/>
          <p:nvPr/>
        </p:nvSpPr>
        <p:spPr>
          <a:xfrm>
            <a:off x="1016000" y="1965854"/>
            <a:ext cx="2965027" cy="3225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[11:8]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6000" y="2364581"/>
            <a:ext cx="2965027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Opcode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6000" y="2697251"/>
            <a:ext cx="2965027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8FA1B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Selects the operation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99467" y="1762654"/>
            <a:ext cx="1845733" cy="1533966"/>
          </a:xfrm>
          <a:prstGeom prst="roundRect">
            <a:avLst>
              <a:gd name="adj" fmla="val 8279"/>
            </a:avLst>
          </a:prstGeom>
          <a:solidFill>
            <a:srgbClr val="17243D"/>
          </a:solidFill>
        </p:spPr>
      </p:sp>
      <p:sp>
        <p:nvSpPr>
          <p:cNvPr id="9" name="Text 7"/>
          <p:cNvSpPr/>
          <p:nvPr/>
        </p:nvSpPr>
        <p:spPr>
          <a:xfrm>
            <a:off x="4402667" y="1965854"/>
            <a:ext cx="1490133" cy="3225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[7:6]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02667" y="2364581"/>
            <a:ext cx="1490133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02667" y="2697251"/>
            <a:ext cx="1490133" cy="4215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8FA1B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Destination and first source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46800" y="1762654"/>
            <a:ext cx="1845733" cy="1533966"/>
          </a:xfrm>
          <a:prstGeom prst="roundRect">
            <a:avLst>
              <a:gd name="adj" fmla="val 8279"/>
            </a:avLst>
          </a:prstGeom>
          <a:solidFill>
            <a:srgbClr val="17243D"/>
          </a:solidFill>
        </p:spPr>
      </p:sp>
      <p:sp>
        <p:nvSpPr>
          <p:cNvPr id="13" name="Text 11"/>
          <p:cNvSpPr/>
          <p:nvPr/>
        </p:nvSpPr>
        <p:spPr>
          <a:xfrm>
            <a:off x="6350000" y="1965854"/>
            <a:ext cx="1490133" cy="3225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[5:4]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0000" y="2364581"/>
            <a:ext cx="1490133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0000" y="2697251"/>
            <a:ext cx="1490133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8FA1B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source register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94133" y="1762654"/>
            <a:ext cx="3285067" cy="1533966"/>
          </a:xfrm>
          <a:prstGeom prst="roundRect">
            <a:avLst>
              <a:gd name="adj" fmla="val 8279"/>
            </a:avLst>
          </a:prstGeom>
          <a:solidFill>
            <a:srgbClr val="17243D"/>
          </a:solidFill>
        </p:spPr>
      </p:sp>
      <p:sp>
        <p:nvSpPr>
          <p:cNvPr id="17" name="Text 15"/>
          <p:cNvSpPr/>
          <p:nvPr/>
        </p:nvSpPr>
        <p:spPr>
          <a:xfrm>
            <a:off x="8297333" y="1965854"/>
            <a:ext cx="2965027" cy="3225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[3:0]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97333" y="2364581"/>
            <a:ext cx="2965027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Immediate / Address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97333" y="2697251"/>
            <a:ext cx="2965027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8FA1B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Constant or address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3449020"/>
            <a:ext cx="10883392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B54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SUPPORTED INSTRUCTIONS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800" y="3799505"/>
            <a:ext cx="2032000" cy="1015824"/>
          </a:xfrm>
          <a:prstGeom prst="roundRect">
            <a:avLst>
              <a:gd name="adj" fmla="val 12502"/>
            </a:avLst>
          </a:prstGeom>
          <a:solidFill>
            <a:srgbClr val="17243D"/>
          </a:solidFill>
        </p:spPr>
      </p:sp>
      <p:sp>
        <p:nvSpPr>
          <p:cNvPr id="22" name="Text 20"/>
          <p:cNvSpPr/>
          <p:nvPr/>
        </p:nvSpPr>
        <p:spPr>
          <a:xfrm>
            <a:off x="965200" y="3951905"/>
            <a:ext cx="1779016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8FA1B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Arithmetic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5200" y="4200790"/>
            <a:ext cx="1779016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ADD · SUB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946400" y="3799505"/>
            <a:ext cx="2032000" cy="1015824"/>
          </a:xfrm>
          <a:prstGeom prst="roundRect">
            <a:avLst>
              <a:gd name="adj" fmla="val 12502"/>
            </a:avLst>
          </a:prstGeom>
          <a:solidFill>
            <a:srgbClr val="17243D"/>
          </a:solidFill>
        </p:spPr>
      </p:sp>
      <p:sp>
        <p:nvSpPr>
          <p:cNvPr id="25" name="Text 23"/>
          <p:cNvSpPr/>
          <p:nvPr/>
        </p:nvSpPr>
        <p:spPr>
          <a:xfrm>
            <a:off x="3098800" y="3951905"/>
            <a:ext cx="1779016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8FA1B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Logic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98800" y="4200525"/>
            <a:ext cx="1788795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AND · OR · XOR · NOT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80000" y="3799505"/>
            <a:ext cx="2032000" cy="1015824"/>
          </a:xfrm>
          <a:prstGeom prst="roundRect">
            <a:avLst>
              <a:gd name="adj" fmla="val 12502"/>
            </a:avLst>
          </a:prstGeom>
          <a:solidFill>
            <a:srgbClr val="17243D"/>
          </a:solidFill>
        </p:spPr>
      </p:sp>
      <p:sp>
        <p:nvSpPr>
          <p:cNvPr id="28" name="Text 26"/>
          <p:cNvSpPr/>
          <p:nvPr/>
        </p:nvSpPr>
        <p:spPr>
          <a:xfrm>
            <a:off x="5232400" y="3951905"/>
            <a:ext cx="1779016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8FA1B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 transfer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32400" y="4200790"/>
            <a:ext cx="1779016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LDI · MOV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213600" y="3799505"/>
            <a:ext cx="2032000" cy="1015824"/>
          </a:xfrm>
          <a:prstGeom prst="roundRect">
            <a:avLst>
              <a:gd name="adj" fmla="val 12502"/>
            </a:avLst>
          </a:prstGeom>
          <a:solidFill>
            <a:srgbClr val="17243D"/>
          </a:solidFill>
        </p:spPr>
      </p:sp>
      <p:sp>
        <p:nvSpPr>
          <p:cNvPr id="31" name="Text 29"/>
          <p:cNvSpPr/>
          <p:nvPr/>
        </p:nvSpPr>
        <p:spPr>
          <a:xfrm>
            <a:off x="7366000" y="3951905"/>
            <a:ext cx="1779016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8FA1B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Memory access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66000" y="4200790"/>
            <a:ext cx="1779016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LOAD · STORE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347200" y="3799505"/>
            <a:ext cx="2032000" cy="1015824"/>
          </a:xfrm>
          <a:prstGeom prst="roundRect">
            <a:avLst>
              <a:gd name="adj" fmla="val 12502"/>
            </a:avLst>
          </a:prstGeom>
          <a:solidFill>
            <a:srgbClr val="17243D"/>
          </a:solidFill>
        </p:spPr>
      </p:sp>
      <p:sp>
        <p:nvSpPr>
          <p:cNvPr id="34" name="Text 32"/>
          <p:cNvSpPr/>
          <p:nvPr/>
        </p:nvSpPr>
        <p:spPr>
          <a:xfrm>
            <a:off x="9499600" y="3951905"/>
            <a:ext cx="1779016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8FA1B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Control flow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499600" y="4200790"/>
            <a:ext cx="1779016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JMP · JZ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12800" y="4967729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B54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Total:</a:t>
            </a:r>
            <a:r>
              <a:rPr lang="en-US" sz="1400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12 implemented instructions, with 4 reserved opcodes.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95808" y="6238258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1B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4-Bit RISC CPU Datapath · 04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Overall CPU Datapath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771"/>
            <a:ext cx="5865107" cy="3844925"/>
          </a:xfrm>
          <a:prstGeom prst="roundRect">
            <a:avLst>
              <a:gd name="adj" fmla="val 3303"/>
            </a:avLst>
          </a:prstGeom>
          <a:solidFill>
            <a:srgbClr val="17243D"/>
          </a:solidFill>
        </p:spPr>
      </p:sp>
      <p:sp>
        <p:nvSpPr>
          <p:cNvPr id="4" name="Text 2"/>
          <p:cNvSpPr/>
          <p:nvPr/>
        </p:nvSpPr>
        <p:spPr>
          <a:xfrm>
            <a:off x="1016000" y="1716971"/>
            <a:ext cx="5622468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B54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MAIN FUNCTIONAL BLOCKS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3282" y="2016655"/>
            <a:ext cx="5517566" cy="27631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Program Counter (PC)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Instruction Memory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IF/ID and ID/EX Pipeline Registers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Instruction Decoder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Register File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Operand Multiplexer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Arithmetic Logic Unit (ALU)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Flag Register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 Memory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Write-Back Multiplexer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Branch Unit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30307" y="1513771"/>
            <a:ext cx="4548893" cy="2488671"/>
          </a:xfrm>
          <a:prstGeom prst="roundRect">
            <a:avLst>
              <a:gd name="adj" fmla="val 5103"/>
            </a:avLst>
          </a:prstGeom>
          <a:solidFill>
            <a:srgbClr val="17243D"/>
          </a:solidFill>
        </p:spPr>
      </p:sp>
      <p:sp>
        <p:nvSpPr>
          <p:cNvPr id="7" name="Text 5"/>
          <p:cNvSpPr/>
          <p:nvPr/>
        </p:nvSpPr>
        <p:spPr>
          <a:xfrm>
            <a:off x="7033507" y="1716971"/>
            <a:ext cx="4266768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B54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MAIN DATA 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71370" y="1953155"/>
            <a:ext cx="4266768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Instruction Memory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71370" y="2222323"/>
            <a:ext cx="4266768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71370" y="2491494"/>
            <a:ext cx="4266768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Decoder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71370" y="2760663"/>
            <a:ext cx="4266768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71370" y="3029834"/>
            <a:ext cx="4266768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Register File / ALU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71370" y="3299002"/>
            <a:ext cx="4266768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71370" y="3568170"/>
            <a:ext cx="4266768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Write-Back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30307" y="4154841"/>
            <a:ext cx="4548893" cy="1203854"/>
          </a:xfrm>
          <a:prstGeom prst="roundRect">
            <a:avLst>
              <a:gd name="adj" fmla="val 10549"/>
            </a:avLst>
          </a:prstGeom>
          <a:solidFill>
            <a:srgbClr val="3DD6F5"/>
          </a:solidFill>
        </p:spPr>
      </p:sp>
      <p:sp>
        <p:nvSpPr>
          <p:cNvPr id="16" name="Text 14"/>
          <p:cNvSpPr/>
          <p:nvPr/>
        </p:nvSpPr>
        <p:spPr>
          <a:xfrm>
            <a:off x="7033507" y="4358041"/>
            <a:ext cx="4266768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B122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MEMORY ORGANIZATION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33507" y="4606925"/>
            <a:ext cx="4266768" cy="5739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122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Separate instruction and data memories (Harvard model).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5808" y="6238258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1B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4-Bit RISC CPU Datapath · 05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Three-Stage Instruction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62971"/>
            <a:ext cx="3420533" cy="2554993"/>
          </a:xfrm>
          <a:prstGeom prst="roundRect">
            <a:avLst>
              <a:gd name="adj" fmla="val 4971"/>
            </a:avLst>
          </a:prstGeom>
          <a:solidFill>
            <a:srgbClr val="17243D"/>
          </a:solidFill>
        </p:spPr>
      </p:sp>
      <p:sp>
        <p:nvSpPr>
          <p:cNvPr id="4" name="Text 2"/>
          <p:cNvSpPr/>
          <p:nvPr/>
        </p:nvSpPr>
        <p:spPr>
          <a:xfrm>
            <a:off x="1016000" y="1666171"/>
            <a:ext cx="3104557" cy="553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32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IF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6000" y="2245255"/>
            <a:ext cx="3104557" cy="299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Instruction Fetch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3282" y="2570339"/>
            <a:ext cx="2999655" cy="5231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Read the instruction using the PC.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Prepare the instruction for decoding.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5733" y="1462971"/>
            <a:ext cx="3420533" cy="2554993"/>
          </a:xfrm>
          <a:prstGeom prst="roundRect">
            <a:avLst>
              <a:gd name="adj" fmla="val 4971"/>
            </a:avLst>
          </a:prstGeom>
          <a:solidFill>
            <a:srgbClr val="17243D"/>
          </a:solidFill>
        </p:spPr>
      </p:sp>
      <p:sp>
        <p:nvSpPr>
          <p:cNvPr id="8" name="Text 6"/>
          <p:cNvSpPr/>
          <p:nvPr/>
        </p:nvSpPr>
        <p:spPr>
          <a:xfrm>
            <a:off x="4588933" y="1666171"/>
            <a:ext cx="3104557" cy="553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32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ID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88933" y="2245255"/>
            <a:ext cx="3104557" cy="299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Instruction Decode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86215" y="2570339"/>
            <a:ext cx="2999655" cy="77205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Identify the opcode and instruction fields.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Generate control signals.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8667" y="1462971"/>
            <a:ext cx="3420533" cy="2554993"/>
          </a:xfrm>
          <a:prstGeom prst="roundRect">
            <a:avLst>
              <a:gd name="adj" fmla="val 4971"/>
            </a:avLst>
          </a:prstGeom>
          <a:solidFill>
            <a:srgbClr val="17243D"/>
          </a:solidFill>
        </p:spPr>
      </p:sp>
      <p:sp>
        <p:nvSpPr>
          <p:cNvPr id="12" name="Text 10"/>
          <p:cNvSpPr/>
          <p:nvPr/>
        </p:nvSpPr>
        <p:spPr>
          <a:xfrm>
            <a:off x="8161867" y="1666171"/>
            <a:ext cx="3104557" cy="553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32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161867" y="2245255"/>
            <a:ext cx="3104557" cy="299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Execute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59149" y="2570339"/>
            <a:ext cx="2999655" cy="12698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Read operands and execute the operation.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Access data memory when necessary.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Write results and update applicable flags.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4221163"/>
            <a:ext cx="5207000" cy="886354"/>
          </a:xfrm>
          <a:prstGeom prst="roundRect">
            <a:avLst>
              <a:gd name="adj" fmla="val 14328"/>
            </a:avLst>
          </a:prstGeom>
          <a:solidFill>
            <a:srgbClr val="17243D"/>
          </a:solidFill>
        </p:spPr>
      </p:sp>
      <p:sp>
        <p:nvSpPr>
          <p:cNvPr id="16" name="Text 14"/>
          <p:cNvSpPr/>
          <p:nvPr/>
        </p:nvSpPr>
        <p:spPr>
          <a:xfrm>
            <a:off x="1016000" y="4424363"/>
            <a:ext cx="4944618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B54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KEY BENEFIT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16000" y="4673247"/>
            <a:ext cx="4944618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Multiple instructions occupy different stages simultaneously.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4221163"/>
            <a:ext cx="5207000" cy="886354"/>
          </a:xfrm>
          <a:prstGeom prst="roundRect">
            <a:avLst>
              <a:gd name="adj" fmla="val 14328"/>
            </a:avLst>
          </a:prstGeom>
          <a:solidFill>
            <a:srgbClr val="17243D"/>
          </a:solidFill>
        </p:spPr>
      </p:sp>
      <p:sp>
        <p:nvSpPr>
          <p:cNvPr id="19" name="Text 17"/>
          <p:cNvSpPr/>
          <p:nvPr/>
        </p:nvSpPr>
        <p:spPr>
          <a:xfrm>
            <a:off x="6375400" y="4424363"/>
            <a:ext cx="4944618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B54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75400" y="4673247"/>
            <a:ext cx="4944618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One completed instruction per clock after pipeline fill.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5808" y="6238258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1B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4-Bit RISC CPU Datapath · 06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Pipeline Registers and Hazards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62971"/>
            <a:ext cx="4970780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B54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PIPELINE REGISTERS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12800" y="1813455"/>
            <a:ext cx="4826000" cy="985397"/>
          </a:xfrm>
          <a:prstGeom prst="roundRect">
            <a:avLst>
              <a:gd name="adj" fmla="val 12888"/>
            </a:avLst>
          </a:prstGeom>
          <a:solidFill>
            <a:srgbClr val="17243D"/>
          </a:solidFill>
        </p:spPr>
      </p:sp>
      <p:sp>
        <p:nvSpPr>
          <p:cNvPr id="5" name="Text 3"/>
          <p:cNvSpPr/>
          <p:nvPr/>
        </p:nvSpPr>
        <p:spPr>
          <a:xfrm>
            <a:off x="1016000" y="2016655"/>
            <a:ext cx="4552188" cy="3225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IF/ID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6000" y="2364581"/>
            <a:ext cx="4552188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Stores the fetched instruction, its address, and a valid bit.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951252"/>
            <a:ext cx="4826000" cy="1216466"/>
          </a:xfrm>
          <a:prstGeom prst="roundRect">
            <a:avLst>
              <a:gd name="adj" fmla="val 10440"/>
            </a:avLst>
          </a:prstGeom>
          <a:solidFill>
            <a:srgbClr val="17243D"/>
          </a:solidFill>
        </p:spPr>
      </p:sp>
      <p:sp>
        <p:nvSpPr>
          <p:cNvPr id="8" name="Text 6"/>
          <p:cNvSpPr/>
          <p:nvPr/>
        </p:nvSpPr>
        <p:spPr>
          <a:xfrm>
            <a:off x="1016000" y="3154452"/>
            <a:ext cx="4552188" cy="3225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ID/EX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3502378"/>
            <a:ext cx="4552188" cy="4875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Stores decoded control signals, register fields, immediate data, address, and a valid bit.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42000" y="1462971"/>
            <a:ext cx="5703316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B54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HAZARD MANAGEMENT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853289" y="1824744"/>
          <a:ext cx="5525912" cy="2747345"/>
        </p:xfrm>
        <a:graphic>
          <a:graphicData uri="http://schemas.openxmlformats.org/drawingml/2006/table">
            <a:tbl>
              <a:tblPr/>
              <a:tblGrid>
                <a:gridCol w="2762956"/>
                <a:gridCol w="2762956"/>
              </a:tblGrid>
              <a:tr h="473516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Hazard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Design approach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E"/>
                    </a:solidFill>
                  </a:tcPr>
                </a:tc>
              </a:tr>
              <a:tr h="757943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Structural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Separate instruction and data memories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943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Data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Read operands during EX after preceding write-back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943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Control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Flush two younger instructions after a taken jump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812800" y="4775290"/>
            <a:ext cx="10566400" cy="833085"/>
          </a:xfrm>
          <a:prstGeom prst="roundRect">
            <a:avLst>
              <a:gd name="adj" fmla="val 15245"/>
            </a:avLst>
          </a:prstGeom>
          <a:solidFill>
            <a:srgbClr val="FFB547"/>
          </a:solidFill>
        </p:spPr>
      </p:sp>
      <p:sp>
        <p:nvSpPr>
          <p:cNvPr id="13" name="Text 10"/>
          <p:cNvSpPr/>
          <p:nvPr/>
        </p:nvSpPr>
        <p:spPr>
          <a:xfrm>
            <a:off x="1016000" y="4927690"/>
            <a:ext cx="622300" cy="553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3200" b="1" dirty="0">
                <a:solidFill>
                  <a:srgbClr val="0B122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1739900" y="5076295"/>
            <a:ext cx="6234113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0B122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Jump penalty:</a:t>
            </a:r>
            <a:r>
              <a:rPr lang="en-US" sz="1400" dirty="0">
                <a:solidFill>
                  <a:srgbClr val="0B122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2 clock cycles. A flushed pipeline slot behaves as a NOP.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5808" y="6238258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1B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4-Bit RISC CPU Datapath · 07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Hardwired Control and Branching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62968"/>
            <a:ext cx="3420533" cy="2415117"/>
          </a:xfrm>
          <a:prstGeom prst="roundRect">
            <a:avLst>
              <a:gd name="adj" fmla="val 5259"/>
            </a:avLst>
          </a:prstGeom>
          <a:solidFill>
            <a:srgbClr val="17243D"/>
          </a:solidFill>
        </p:spPr>
      </p:sp>
      <p:sp>
        <p:nvSpPr>
          <p:cNvPr id="4" name="Text 2"/>
          <p:cNvSpPr/>
          <p:nvPr/>
        </p:nvSpPr>
        <p:spPr>
          <a:xfrm>
            <a:off x="1016000" y="1666168"/>
            <a:ext cx="3104557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B54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ID STAGE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6000" y="1940452"/>
            <a:ext cx="3104557" cy="299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Instruction decoder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3282" y="2290942"/>
            <a:ext cx="2999655" cy="12698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Decodes the opcode.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Generates ALU, register, memory, and flag control signals.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Uses safe default values for reserved opcodes.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5733" y="1462968"/>
            <a:ext cx="3420533" cy="2415117"/>
          </a:xfrm>
          <a:prstGeom prst="roundRect">
            <a:avLst>
              <a:gd name="adj" fmla="val 5259"/>
            </a:avLst>
          </a:prstGeom>
          <a:solidFill>
            <a:srgbClr val="17243D"/>
          </a:solidFill>
        </p:spPr>
      </p:sp>
      <p:sp>
        <p:nvSpPr>
          <p:cNvPr id="8" name="Text 6"/>
          <p:cNvSpPr/>
          <p:nvPr/>
        </p:nvSpPr>
        <p:spPr>
          <a:xfrm>
            <a:off x="4588933" y="1666168"/>
            <a:ext cx="3104557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B54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 STAGE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88933" y="1940452"/>
            <a:ext cx="3104557" cy="299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Branch unit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88933" y="2290942"/>
            <a:ext cx="3104557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JMP addr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88933" y="2598210"/>
            <a:ext cx="3104557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always changes the PC.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88933" y="2905478"/>
            <a:ext cx="3104557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JZ addr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88933" y="3212747"/>
            <a:ext cx="3104557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jumps only when Zero = 1.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8667" y="1462968"/>
            <a:ext cx="3420533" cy="2415117"/>
          </a:xfrm>
          <a:prstGeom prst="roundRect">
            <a:avLst>
              <a:gd name="adj" fmla="val 5259"/>
            </a:avLst>
          </a:prstGeom>
          <a:solidFill>
            <a:srgbClr val="17243D"/>
          </a:solidFill>
        </p:spPr>
      </p:sp>
      <p:sp>
        <p:nvSpPr>
          <p:cNvPr id="15" name="Text 13"/>
          <p:cNvSpPr/>
          <p:nvPr/>
        </p:nvSpPr>
        <p:spPr>
          <a:xfrm>
            <a:off x="8161867" y="1666168"/>
            <a:ext cx="3104557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B54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BRANCH CONTROL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61867" y="1940452"/>
            <a:ext cx="3104557" cy="299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Control signals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61867" y="2290942"/>
            <a:ext cx="3104557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pc_sel = 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61867" y="2598210"/>
            <a:ext cx="3104557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select the jump target.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61867" y="2905478"/>
            <a:ext cx="3104557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3DD6F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flush = 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61867" y="3212747"/>
            <a:ext cx="3104557" cy="4875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clear the two younger pipeline instructions.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4081289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B54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Reserved opcodes:</a:t>
            </a:r>
            <a:r>
              <a:rPr lang="en-US" sz="1400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Behave as NOPs.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5808" y="6238261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1B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4-Bit RISC CPU Datapath · 09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91895"/>
            <a:ext cx="12192000" cy="44030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8EEF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Verification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768"/>
            <a:ext cx="4826000" cy="833085"/>
          </a:xfrm>
          <a:prstGeom prst="roundRect">
            <a:avLst>
              <a:gd name="adj" fmla="val 15245"/>
            </a:avLst>
          </a:prstGeom>
          <a:solidFill>
            <a:srgbClr val="3DD6F5"/>
          </a:solidFill>
        </p:spPr>
      </p:sp>
      <p:sp>
        <p:nvSpPr>
          <p:cNvPr id="4" name="Text 2"/>
          <p:cNvSpPr/>
          <p:nvPr/>
        </p:nvSpPr>
        <p:spPr>
          <a:xfrm>
            <a:off x="1016000" y="1666168"/>
            <a:ext cx="876300" cy="553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3200" b="1" dirty="0">
                <a:solidFill>
                  <a:srgbClr val="0B122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88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993900" y="1814779"/>
            <a:ext cx="3227705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0B122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total checks across four testbenches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824089" y="2510541"/>
          <a:ext cx="4814712" cy="2841096"/>
        </p:xfrm>
        <a:graphic>
          <a:graphicData uri="http://schemas.openxmlformats.org/drawingml/2006/table">
            <a:tbl>
              <a:tblPr/>
              <a:tblGrid>
                <a:gridCol w="2407356"/>
                <a:gridCol w="2407356"/>
              </a:tblGrid>
              <a:tr h="473516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Testbench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Checks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E"/>
                    </a:solidFill>
                  </a:tcPr>
                </a:tc>
              </a:tr>
              <a:tr h="473516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ALU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11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516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Register file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11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516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Control unit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22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516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8FA1B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Complete CPU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44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516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FB54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Total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FB54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88</a:t>
                      </a:r>
                      <a:endParaRPr lang="en-US" sz="16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842000" y="1513768"/>
            <a:ext cx="5537200" cy="2448278"/>
          </a:xfrm>
          <a:prstGeom prst="roundRect">
            <a:avLst>
              <a:gd name="adj" fmla="val 5187"/>
            </a:avLst>
          </a:prstGeom>
          <a:solidFill>
            <a:srgbClr val="17243D"/>
          </a:solidFill>
        </p:spPr>
      </p:sp>
      <p:sp>
        <p:nvSpPr>
          <p:cNvPr id="8" name="Text 5"/>
          <p:cNvSpPr/>
          <p:nvPr/>
        </p:nvSpPr>
        <p:spPr>
          <a:xfrm>
            <a:off x="6045200" y="1716968"/>
            <a:ext cx="5284724" cy="2234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B54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VERIFICATION COVERAGE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42482" y="2016652"/>
            <a:ext cx="5179822" cy="17675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Arithmetic and logic results.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Register reads, writes, and reset.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Instruction decoding and control signals.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Sequential program execution.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JMP and conditional JZ behavior.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Pipeline flushing and valid reset state.</a:t>
            </a:r>
            <a:endParaRPr lang="en-US" sz="1400" dirty="0"/>
          </a:p>
          <a:p>
            <a:pPr marL="156845" indent="-15684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3CFE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Checks for unknown x values on key outputs.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5808" y="6238261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1B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4-Bit RISC CPU Datapath · 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and Implementation of a 4-Bit RISC CPU Datapath">
  <a:themeElements>
    <a:clrScheme name="Design and Implementation of a 4-Bit RISC CPU Datapath">
      <a:dk1>
        <a:srgbClr val="101A2E"/>
      </a:dk1>
      <a:lt1>
        <a:srgbClr val="E8EEF8"/>
      </a:lt1>
      <a:dk2>
        <a:srgbClr val="262F42"/>
      </a:dk2>
      <a:lt2>
        <a:srgbClr val="B2B9C6"/>
      </a:lt2>
      <a:accent1>
        <a:srgbClr val="3DD6F5"/>
      </a:accent1>
      <a:accent2>
        <a:srgbClr val="8FA1BF"/>
      </a:accent2>
      <a:accent3>
        <a:srgbClr val="FFB547"/>
      </a:accent3>
      <a:accent4>
        <a:srgbClr val="C3CFE3"/>
      </a:accent4>
      <a:accent5>
        <a:srgbClr val="9AA0A6"/>
      </a:accent5>
      <a:accent6>
        <a:srgbClr val="9299A7"/>
      </a:accent6>
      <a:hlink>
        <a:srgbClr val="0563C1"/>
      </a:hlink>
      <a:folHlink>
        <a:srgbClr val="954F72"/>
      </a:folHlink>
    </a:clrScheme>
    <a:fontScheme name="Design and Implementation of a 4-Bit RISC CPU Datapath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sign and Implementation of a 4-Bit RISC CPU Datapath">
  <a:themeElements>
    <a:clrScheme name="Design and Implementation of a 4-Bit RISC CPU Datapath">
      <a:dk1>
        <a:srgbClr val="101A2E"/>
      </a:dk1>
      <a:lt1>
        <a:srgbClr val="E8EEF8"/>
      </a:lt1>
      <a:dk2>
        <a:srgbClr val="262F42"/>
      </a:dk2>
      <a:lt2>
        <a:srgbClr val="B2B9C6"/>
      </a:lt2>
      <a:accent1>
        <a:srgbClr val="3DD6F5"/>
      </a:accent1>
      <a:accent2>
        <a:srgbClr val="8FA1BF"/>
      </a:accent2>
      <a:accent3>
        <a:srgbClr val="FFB547"/>
      </a:accent3>
      <a:accent4>
        <a:srgbClr val="C3CFE3"/>
      </a:accent4>
      <a:accent5>
        <a:srgbClr val="9AA0A6"/>
      </a:accent5>
      <a:accent6>
        <a:srgbClr val="9299A7"/>
      </a:accent6>
      <a:hlink>
        <a:srgbClr val="0563C1"/>
      </a:hlink>
      <a:folHlink>
        <a:srgbClr val="954F72"/>
      </a:folHlink>
    </a:clrScheme>
    <a:fontScheme name="Design and Implementation of a 4-Bit RISC CPU Datapath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3697</Words>
  <Application>WPS Presentation</Application>
  <PresentationFormat>On-screen Show (16:9)</PresentationFormat>
  <Paragraphs>322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Times New Roman</vt:lpstr>
      <vt:lpstr>Times New Roman</vt:lpstr>
      <vt:lpstr>Times New Roman</vt:lpstr>
      <vt:lpstr>Microsoft YaHei</vt:lpstr>
      <vt:lpstr>Arial Unicode MS</vt:lpstr>
      <vt:lpstr>Calibri</vt:lpstr>
      <vt:lpstr>Design and Implementation of a 4-Bit RISC CPU Datapath</vt:lpstr>
      <vt:lpstr>Design and Implementation of a 4-Bit RISC CPU Datapath</vt:lpstr>
      <vt:lpstr>Project Aim and Scope</vt:lpstr>
      <vt:lpstr>System Specifications</vt:lpstr>
      <vt:lpstr>Instruction Set Architecture</vt:lpstr>
      <vt:lpstr>Overall CPU Datapath</vt:lpstr>
      <vt:lpstr>Three-Stage Instruction Pipeline</vt:lpstr>
      <vt:lpstr>Pipeline Registers and Hazards</vt:lpstr>
      <vt:lpstr>Hardwired Control and Branching</vt:lpstr>
      <vt:lpstr>PowerPoint 演示文稿</vt:lpstr>
      <vt:lpstr>Verification Strategy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Implementation of a 4-Bit RISC CPU Datapath</dc:title>
  <dc:creator/>
  <cp:lastModifiedBy>Minh Nguyen</cp:lastModifiedBy>
  <cp:revision>5</cp:revision>
  <dcterms:created xsi:type="dcterms:W3CDTF">2026-10-09T01:51:00Z</dcterms:created>
  <dcterms:modified xsi:type="dcterms:W3CDTF">2026-10-15T03:38:09Z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48C5D334D55845A8A2EEBD45CEF8E9D6_13</vt:lpwstr>
  </property>
  <property fmtid="{D5CDD505-2E9C-101B-9397-08002B2CF9AE}" pid="3" name="KSOProductBuildVer">
    <vt:lpwstr>1033-12.1.0.29162</vt:lpwstr>
  </property>
</Properties>
</file>